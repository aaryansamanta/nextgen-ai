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  <p:sldMasterId id="2147483669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itchFamily="2" charset="77"/>
      <p:regular r:id="rId23"/>
      <p:bold r:id="rId24"/>
      <p:italic r:id="rId25"/>
      <p:boldItalic r:id="rId26"/>
    </p:embeddedFont>
    <p:embeddedFont>
      <p:font typeface="Verdana" panose="020B060403050404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1faf8f8bc_5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71faf8f8bc_5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71faf8f8bc_5_7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1faf8f8bc_5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71faf8f8bc_5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371faf8f8bc_5_8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1faf8f8bc_5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71faf8f8bc_5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371faf8f8bc_5_10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1faf8f8bc_5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71faf8f8bc_5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g371faf8f8bc_5_1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1faf8f8bc_5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71faf8f8bc_5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371faf8f8bc_5_1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1faf8f8bc_5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71faf8f8bc_5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g371faf8f8bc_5_16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1faf8f8bc_5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71faf8f8bc_5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g371faf8f8bc_5_17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1faf8f8bc_5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71faf8f8bc_5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g371faf8f8bc_5_1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1faf8f8bc_5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371faf8f8bc_5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71faf8f8bc_5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1faf8f8bc_5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71faf8f8bc_5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71faf8f8bc_5_2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1faf8f8bc_5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71faf8f8bc_5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3" name="Google Shape;323;g371faf8f8bc_5_25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1faf8f8bc_5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371faf8f8bc_5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371faf8f8bc_5_27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1faf8f8bc_5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371faf8f8bc_5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" name="Google Shape;364;g371faf8f8bc_5_30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1faf8f8bc_5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71faf8f8bc_5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371faf8f8bc_5_3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17379"/>
            <a:ext cx="529560" cy="42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23376" y="4717379"/>
            <a:ext cx="420624" cy="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59" name="Google Shape;59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1" name="Google Shape;81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7" name="Google Shape;87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4" name="Google Shape;94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9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2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20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 descr="NextGenAI International Organization"/>
          <p:cNvPicPr preferRelativeResize="0"/>
          <p:nvPr/>
        </p:nvPicPr>
        <p:blipFill rotWithShape="1">
          <a:blip r:embed="rId3">
            <a:alphaModFix/>
          </a:blip>
          <a:srcRect l="25036" t="26881" r="-5813" b="13354"/>
          <a:stretch/>
        </p:blipFill>
        <p:spPr>
          <a:xfrm>
            <a:off x="1" y="-225544"/>
            <a:ext cx="9842130" cy="372854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120000" y="3655400"/>
            <a:ext cx="98421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4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Empowering Young Thinkers for an AI-Powered Tomorrow</a:t>
            </a:r>
            <a:endParaRPr sz="2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120000" y="4185550"/>
            <a:ext cx="89262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83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3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 student-led, mentor-supported organization dedicated to equipping high school students with foundational AI knowledge, encouraging them to design AI-driven solutions for global challenges, and facilitating collaboration among AI clubs worldwide.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-95623" y="-225544"/>
            <a:ext cx="9141600" cy="357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20000" y="1450425"/>
            <a:ext cx="97221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NextGenAI International Organization</a:t>
            </a:r>
            <a:endParaRPr sz="3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Our Mission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1107005" y="1652472"/>
            <a:ext cx="1071300" cy="1071300"/>
          </a:xfrm>
          <a:prstGeom prst="ellipse">
            <a:avLst/>
          </a:prstGeom>
          <a:solidFill>
            <a:srgbClr val="22AA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121" y="1949587"/>
            <a:ext cx="478511" cy="47851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244255" y="2794182"/>
            <a:ext cx="27969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Empower Young Thinkers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244255" y="3280841"/>
            <a:ext cx="27969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Dedicate the organization to empowering young thinkers worldwide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4035210" y="1652472"/>
            <a:ext cx="1071300" cy="1071300"/>
          </a:xfrm>
          <a:prstGeom prst="ellipse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4867" y="1886820"/>
            <a:ext cx="542789" cy="6142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/>
          <p:nvPr/>
        </p:nvSpPr>
        <p:spPr>
          <a:xfrm>
            <a:off x="3160596" y="2794182"/>
            <a:ext cx="2773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Shape AI-Powered Tomorrow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3160596" y="3280841"/>
            <a:ext cx="27732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Help young people shape an AI-powered future through the organization's efforts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963415" y="1652472"/>
            <a:ext cx="1071300" cy="1071300"/>
          </a:xfrm>
          <a:prstGeom prst="ellipse">
            <a:avLst/>
          </a:prstGeom>
          <a:solidFill>
            <a:srgbClr val="FEC0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9143" y="2024915"/>
            <a:ext cx="535647" cy="32853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>
            <a:off x="6005800" y="2794175"/>
            <a:ext cx="3014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Education, Innovation, Collaboration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6136019" y="3280841"/>
            <a:ext cx="27261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Achieve the mission through education, innovation, and global collaboration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0" y="4285178"/>
            <a:ext cx="9141600" cy="857100"/>
          </a:xfrm>
          <a:prstGeom prst="rect">
            <a:avLst/>
          </a:prstGeom>
          <a:solidFill>
            <a:srgbClr val="FEC0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121414" y="4464230"/>
            <a:ext cx="88989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NextGenAI is dedicated to empowering the next generation of young leaders to thrive in an AI-driven world through a multifaceted approach of education, innovation, and global collaboration.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4402307" y="382315"/>
            <a:ext cx="4382400" cy="3953100"/>
          </a:xfrm>
          <a:prstGeom prst="rect">
            <a:avLst/>
          </a:prstGeom>
          <a:solidFill>
            <a:srgbClr val="22AA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5" descr="AI Revolution"/>
          <p:cNvPicPr preferRelativeResize="0"/>
          <p:nvPr/>
        </p:nvPicPr>
        <p:blipFill rotWithShape="1">
          <a:blip r:embed="rId3">
            <a:alphaModFix/>
          </a:blip>
          <a:srcRect l="19039" t="5376" r="19040" b="5347"/>
          <a:stretch/>
        </p:blipFill>
        <p:spPr>
          <a:xfrm>
            <a:off x="4386542" y="287055"/>
            <a:ext cx="4496725" cy="405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/>
          <p:nvPr/>
        </p:nvSpPr>
        <p:spPr>
          <a:xfrm>
            <a:off x="244970" y="1160375"/>
            <a:ext cx="39123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Why Now?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244970" y="1884115"/>
            <a:ext cx="3912300" cy="1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8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AI revolution is transforming industries like healthcare, education, and sustainability. Young people must be equipped to lead ethically in this AI-driven future. NextGenAI aims to engage the next generation early and bridge gaps in AI education and access worldwide.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Organizational Structure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l="21321" r="21321"/>
          <a:stretch/>
        </p:blipFill>
        <p:spPr>
          <a:xfrm>
            <a:off x="1582470" y="1176942"/>
            <a:ext cx="1285554" cy="239255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/>
          <p:nvPr/>
        </p:nvSpPr>
        <p:spPr>
          <a:xfrm>
            <a:off x="1526100" y="3675625"/>
            <a:ext cx="1414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Aaryan Samanta</a:t>
            </a:r>
            <a:endParaRPr sz="120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486800" y="3933675"/>
            <a:ext cx="14928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President &amp; Founder (Chief, Global AI Ambassador)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167205" y="1176942"/>
            <a:ext cx="12855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4">
            <a:alphaModFix/>
          </a:blip>
          <a:srcRect l="23134" r="23133"/>
          <a:stretch/>
        </p:blipFill>
        <p:spPr>
          <a:xfrm>
            <a:off x="3167179" y="1176942"/>
            <a:ext cx="1285553" cy="239255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/>
          <p:nvPr/>
        </p:nvSpPr>
        <p:spPr>
          <a:xfrm>
            <a:off x="3102855" y="3675625"/>
            <a:ext cx="1414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Mr. Marvin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3102855" y="3933675"/>
            <a:ext cx="14142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Mentor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4747925" y="1176942"/>
            <a:ext cx="12855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5">
            <a:alphaModFix/>
          </a:blip>
          <a:srcRect l="28387" r="28386"/>
          <a:stretch/>
        </p:blipFill>
        <p:spPr>
          <a:xfrm>
            <a:off x="4747925" y="1176942"/>
            <a:ext cx="1285553" cy="239255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4683648" y="3675625"/>
            <a:ext cx="1414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Mrs Laurence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4683648" y="3933675"/>
            <a:ext cx="14142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Mentor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328718" y="1176942"/>
            <a:ext cx="12855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6">
            <a:alphaModFix/>
          </a:blip>
          <a:srcRect l="15328" r="15327"/>
          <a:stretch/>
        </p:blipFill>
        <p:spPr>
          <a:xfrm>
            <a:off x="6328718" y="1176942"/>
            <a:ext cx="1285553" cy="239255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6264440" y="3675625"/>
            <a:ext cx="1414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Mr. Carlos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264440" y="3933675"/>
            <a:ext cx="14142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Mentor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8891746" y="4872103"/>
            <a:ext cx="1071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Our Activities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4" name="Google Shape;20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038" y="1406967"/>
            <a:ext cx="7927581" cy="67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46512"/>
            <a:ext cx="864178" cy="95702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999876" y="1605268"/>
            <a:ext cx="79275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Innovations &amp; Internship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037" y="2231087"/>
            <a:ext cx="5213631" cy="67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2103461"/>
            <a:ext cx="864178" cy="728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999875" y="2429389"/>
            <a:ext cx="49416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AI Exploration &amp; Learning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999875" y="3080083"/>
            <a:ext cx="49416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525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025" y="3035850"/>
            <a:ext cx="2492565" cy="6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3107283"/>
            <a:ext cx="864178" cy="95702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/>
          <p:nvPr/>
        </p:nvSpPr>
        <p:spPr>
          <a:xfrm>
            <a:off x="949823" y="3055200"/>
            <a:ext cx="22572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Global Collaboration &amp; Outreach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8898888" y="4872103"/>
            <a:ext cx="99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Innovations &amp; Internship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357099" y="1192708"/>
            <a:ext cx="27138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221401" y="3691391"/>
            <a:ext cx="29853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AI Internships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221401" y="3949451"/>
            <a:ext cx="29853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Students research topics like bias in algorithms, emotion recognition, or AI in medical imaging.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3213884" y="1192708"/>
            <a:ext cx="27138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8" descr="AI-based apps, AI systems, healthcare, education, sustainability"/>
          <p:cNvPicPr preferRelativeResize="0"/>
          <p:nvPr/>
        </p:nvPicPr>
        <p:blipFill rotWithShape="1">
          <a:blip r:embed="rId3">
            <a:alphaModFix/>
          </a:blip>
          <a:srcRect l="15894" r="15894"/>
          <a:stretch/>
        </p:blipFill>
        <p:spPr>
          <a:xfrm>
            <a:off x="3213884" y="1192708"/>
            <a:ext cx="2713948" cy="239255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/>
          <p:nvPr/>
        </p:nvSpPr>
        <p:spPr>
          <a:xfrm>
            <a:off x="3078187" y="3691391"/>
            <a:ext cx="29853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Design a Future-AI Tool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078187" y="3949451"/>
            <a:ext cx="29853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Students propose AI-based apps or systems to address real-world issues like healthcare, education, and sustainability.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6070670" y="1192708"/>
            <a:ext cx="2713800" cy="23925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8" descr="student AI project presentations, school communities, local organizations"/>
          <p:cNvPicPr preferRelativeResize="0"/>
          <p:nvPr/>
        </p:nvPicPr>
        <p:blipFill rotWithShape="1">
          <a:blip r:embed="rId4">
            <a:alphaModFix/>
          </a:blip>
          <a:srcRect t="5920" b="5921"/>
          <a:stretch/>
        </p:blipFill>
        <p:spPr>
          <a:xfrm>
            <a:off x="6070670" y="1192708"/>
            <a:ext cx="2713946" cy="239255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5934973" y="3691391"/>
            <a:ext cx="29853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Showcase Days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5934973" y="3949450"/>
            <a:ext cx="29853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Students present their AI projects to school communities and local organizations.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8898888" y="4872103"/>
            <a:ext cx="99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8"/>
          <p:cNvPicPr preferRelativeResize="0"/>
          <p:nvPr/>
        </p:nvPicPr>
        <p:blipFill rotWithShape="1">
          <a:blip r:embed="rId5">
            <a:alphaModFix/>
          </a:blip>
          <a:srcRect l="16830" r="20437"/>
          <a:stretch/>
        </p:blipFill>
        <p:spPr>
          <a:xfrm>
            <a:off x="221400" y="1192700"/>
            <a:ext cx="2856776" cy="23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AI Exploration &amp; Learning</a:t>
            </a:r>
            <a:endParaRPr sz="135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097" y="1801003"/>
            <a:ext cx="2906782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>
            <a:off x="379715" y="2146405"/>
            <a:ext cx="26448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AI Ethical Awareness</a:t>
            </a:r>
            <a:endParaRPr sz="12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444139" y="2790411"/>
            <a:ext cx="26448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Conduct a school survey to assess AI ethical awareness, propose an AI ethics curriculum, and develop a validated measurement instrument using the Berkeley Assessment System (BAS) framework.</a:t>
            </a:r>
            <a:endParaRPr sz="10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8638" y="1801003"/>
            <a:ext cx="2906782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/>
          <p:nvPr/>
        </p:nvSpPr>
        <p:spPr>
          <a:xfrm>
            <a:off x="3366247" y="2146405"/>
            <a:ext cx="24093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Guest Speaker Series</a:t>
            </a:r>
            <a:endParaRPr sz="12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3261357" y="2790411"/>
            <a:ext cx="26448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Organize quarterly talks by AI experts from academia, industry, or startups to expose students to diverse perspectives on AI.</a:t>
            </a:r>
            <a:endParaRPr sz="10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80" y="1801003"/>
            <a:ext cx="2906782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/>
          <p:nvPr/>
        </p:nvSpPr>
        <p:spPr>
          <a:xfrm>
            <a:off x="6127806" y="2146405"/>
            <a:ext cx="24093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AI Workshops</a:t>
            </a:r>
            <a:endParaRPr sz="12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6070623" y="2790411"/>
            <a:ext cx="26448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Host workshops covering AI fundamentals, coding, and ethics to provide hands-on learning opportunities for students.</a:t>
            </a:r>
            <a:endParaRPr sz="10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8891746" y="4872103"/>
            <a:ext cx="1071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Global Collaboration &amp; Outreach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9" name="Google Shape;25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60520"/>
            <a:ext cx="9141713" cy="292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/>
          <p:nvPr/>
        </p:nvSpPr>
        <p:spPr>
          <a:xfrm>
            <a:off x="2385417" y="3677108"/>
            <a:ext cx="1257000" cy="1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Virtual Meetups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2385417" y="3881434"/>
            <a:ext cx="12570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Connect AI clubs across schools for challenges and cultural exchange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2" name="Google Shape;26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9749" y="3503134"/>
            <a:ext cx="221401" cy="299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/>
          <p:nvPr/>
        </p:nvSpPr>
        <p:spPr>
          <a:xfrm>
            <a:off x="2799650" y="2405823"/>
            <a:ext cx="14481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Student-Led Media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2799651" y="2610165"/>
            <a:ext cx="12570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Publish an AI blog or podcast featuring student insights and interviews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5" name="Google Shape;26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5392" y="2039031"/>
            <a:ext cx="214259" cy="307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0"/>
          <p:cNvSpPr/>
          <p:nvPr/>
        </p:nvSpPr>
        <p:spPr>
          <a:xfrm>
            <a:off x="4556575" y="1749400"/>
            <a:ext cx="1836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ommunity Workshops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4556574" y="1983736"/>
            <a:ext cx="12570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Host sessions to teach AI basics to younger students or parents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8" name="Google Shape;268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99476" y="2039031"/>
            <a:ext cx="214259" cy="307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0"/>
          <p:cNvSpPr/>
          <p:nvPr/>
        </p:nvSpPr>
        <p:spPr>
          <a:xfrm>
            <a:off x="5049376" y="2905775"/>
            <a:ext cx="1448100" cy="1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lobal Partnerships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049369" y="3110102"/>
            <a:ext cx="1257000" cy="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Collaborate with schools, universities, NGOs, and industry to advance AI education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1" name="Google Shape;271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7980" y="3453140"/>
            <a:ext cx="214259" cy="29996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6749148" y="3677099"/>
            <a:ext cx="1564200" cy="1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ultural Exchange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6749157" y="3881434"/>
            <a:ext cx="1257000" cy="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Foster cross-cultural connections and shared learning among AI clubs worldwide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2068" y="3453140"/>
            <a:ext cx="214259" cy="29996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/>
          <p:nvPr/>
        </p:nvSpPr>
        <p:spPr>
          <a:xfrm>
            <a:off x="7056247" y="2448700"/>
            <a:ext cx="1559100" cy="1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Outreach &amp; Impact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7056261" y="2653016"/>
            <a:ext cx="12570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5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Measure program growth, project completions, and community engagement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7" name="Google Shape;277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13426" y="1989037"/>
            <a:ext cx="214259" cy="29996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/>
          <p:nvPr/>
        </p:nvSpPr>
        <p:spPr>
          <a:xfrm>
            <a:off x="8898888" y="4872103"/>
            <a:ext cx="99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-11345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Key Themes</a:t>
            </a:r>
            <a:endParaRPr sz="28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1107005" y="1485529"/>
            <a:ext cx="1071300" cy="1071300"/>
          </a:xfrm>
          <a:prstGeom prst="ellipse">
            <a:avLst/>
          </a:prstGeom>
          <a:solidFill>
            <a:srgbClr val="22AA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905" y="1801477"/>
            <a:ext cx="578499" cy="44280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1"/>
          <p:cNvSpPr/>
          <p:nvPr/>
        </p:nvSpPr>
        <p:spPr>
          <a:xfrm>
            <a:off x="256040" y="2627239"/>
            <a:ext cx="27732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Ethical AI &amp; Bias Mitigation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256040" y="2885298"/>
            <a:ext cx="27732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Ensure AI systems are designed and deployed with strong ethical principles to mitigate biases and promote fairness.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4035210" y="1485529"/>
            <a:ext cx="1071300" cy="1071300"/>
          </a:xfrm>
          <a:prstGeom prst="ellipse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7216" y="1826585"/>
            <a:ext cx="528506" cy="39280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1"/>
          <p:cNvSpPr/>
          <p:nvPr/>
        </p:nvSpPr>
        <p:spPr>
          <a:xfrm>
            <a:off x="3306015" y="2627239"/>
            <a:ext cx="25296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AI for Social Good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3306015" y="2885298"/>
            <a:ext cx="25296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Leverage AI to address real-world challenges in healthcare, education, sustainability, and other domains that positively impact society.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6963415" y="1485529"/>
            <a:ext cx="1071300" cy="1071300"/>
          </a:xfrm>
          <a:prstGeom prst="ellipse">
            <a:avLst/>
          </a:prstGeom>
          <a:solidFill>
            <a:srgbClr val="FEC0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5423" y="1776367"/>
            <a:ext cx="528506" cy="49279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/>
          <p:nvPr/>
        </p:nvSpPr>
        <p:spPr>
          <a:xfrm>
            <a:off x="6143875" y="2627239"/>
            <a:ext cx="27105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Cross-Cultural AI Innovation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6143875" y="2885298"/>
            <a:ext cx="27105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Foster a global community of young thinkers who collaborate across borders to develop innovative AI-powered solutions.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0" y="4285178"/>
            <a:ext cx="9141600" cy="857100"/>
          </a:xfrm>
          <a:prstGeom prst="rect">
            <a:avLst/>
          </a:prstGeom>
          <a:solidFill>
            <a:srgbClr val="FD86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209899" y="4469575"/>
            <a:ext cx="8644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4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NextGenAI is dedicated to empowering the next generation of AI leaders who will shape a better, more equitable future through ethical, socially-conscious, and globally-connected innovation.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AI Ethical Awareness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6" name="Google Shape;30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097" y="1723892"/>
            <a:ext cx="2221150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2"/>
          <p:cNvSpPr/>
          <p:nvPr/>
        </p:nvSpPr>
        <p:spPr>
          <a:xfrm>
            <a:off x="414235" y="2069272"/>
            <a:ext cx="18855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Construct Map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571358" y="2713276"/>
            <a:ext cx="1885500" cy="13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Create a construct map that defines low, medium, and high levels of AI ethical awareness. This blueprint will represent the qualitative aspects of the variable of interest.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9" name="Google Shape;30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8267" y="1723892"/>
            <a:ext cx="2221150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2"/>
          <p:cNvSpPr/>
          <p:nvPr/>
        </p:nvSpPr>
        <p:spPr>
          <a:xfrm>
            <a:off x="2710376" y="2069272"/>
            <a:ext cx="16497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Question Design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2642527" y="2713277"/>
            <a:ext cx="18855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Construct survey questions that can measure the varying levels of AI ethical awareness, from low to high, based on the construct map.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2" name="Google Shape;312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9436" y="1723892"/>
            <a:ext cx="2221150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/>
          <p:nvPr/>
        </p:nvSpPr>
        <p:spPr>
          <a:xfrm>
            <a:off x="4781545" y="2069272"/>
            <a:ext cx="16497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Scoring Guide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4713697" y="2713277"/>
            <a:ext cx="18855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Develop a scoring guide that relates different response scores back to the levels defined in the construct map.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5" name="Google Shape;31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0606" y="1723892"/>
            <a:ext cx="2221150" cy="8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2"/>
          <p:cNvSpPr/>
          <p:nvPr/>
        </p:nvSpPr>
        <p:spPr>
          <a:xfrm>
            <a:off x="6852715" y="2069272"/>
            <a:ext cx="16497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Rasch Modeling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6784867" y="2713276"/>
            <a:ext cx="1885500" cy="13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Apply Rasch modeling to test the hypothesis that the AI ethical awareness variable behaves in the way that was hypothesized in the construct map and survey questions.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8906029" y="4872103"/>
            <a:ext cx="927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2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Collaboration Strategy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357099" y="1192708"/>
            <a:ext cx="4142400" cy="1581900"/>
          </a:xfrm>
          <a:prstGeom prst="rect">
            <a:avLst/>
          </a:prstGeom>
          <a:solidFill>
            <a:srgbClr val="22AA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571358" y="1360098"/>
            <a:ext cx="4163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High Schools/Universities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571359" y="1706763"/>
            <a:ext cx="38352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Partner with schools to establish AI clubs and integrate AI education. Reach out to university AI labs for mentorship and resources.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4642277" y="1192708"/>
            <a:ext cx="4142400" cy="1581900"/>
          </a:xfrm>
          <a:prstGeom prst="rect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4856536" y="1360098"/>
            <a:ext cx="4163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Non-Profits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4856526" y="1706775"/>
            <a:ext cx="39573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Collaborate with organizations focused on education or technology access (eg. AI Ethos) for funding and outreach.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357099" y="2917493"/>
            <a:ext cx="4142400" cy="1581900"/>
          </a:xfrm>
          <a:prstGeom prst="rect">
            <a:avLst/>
          </a:prstGeom>
          <a:solidFill>
            <a:srgbClr val="FEC0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571358" y="3084882"/>
            <a:ext cx="4163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Industry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571358" y="3431547"/>
            <a:ext cx="41637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Engage with AI associates (eg. TAIA) &amp; companies for guest speakers and internship opportunities.</a:t>
            </a:r>
            <a:endParaRPr sz="10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4642277" y="2917493"/>
            <a:ext cx="4142400" cy="1581900"/>
          </a:xfrm>
          <a:prstGeom prst="rect">
            <a:avLst/>
          </a:prstGeom>
          <a:solidFill>
            <a:srgbClr val="FD86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4856536" y="3084882"/>
            <a:ext cx="41637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4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Open Learning Network (OLN)</a:t>
            </a:r>
            <a:endParaRPr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4856536" y="3431547"/>
            <a:ext cx="39573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Open Learning Networks (OLNs) are a transformative educational model combines institutional coursework with community involvement, global experiences, interdisciplinary content, making learning truly borderless.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8898888" y="4872103"/>
            <a:ext cx="99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/>
          <p:cNvSpPr txBox="1">
            <a:spLocks noGrp="1"/>
          </p:cNvSpPr>
          <p:nvPr>
            <p:ph type="sldNum" idx="4294967295"/>
          </p:nvPr>
        </p:nvSpPr>
        <p:spPr>
          <a:xfrm>
            <a:off x="8869680" y="4886325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 sz="82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8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6331" y="4049099"/>
            <a:ext cx="353107" cy="450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/>
          <p:nvPr/>
        </p:nvSpPr>
        <p:spPr>
          <a:xfrm>
            <a:off x="0" y="280545"/>
            <a:ext cx="9141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 Us!</a:t>
            </a: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1107005" y="1385541"/>
            <a:ext cx="1071300" cy="1071300"/>
          </a:xfrm>
          <a:prstGeom prst="ellipse">
            <a:avLst/>
          </a:prstGeom>
          <a:solidFill>
            <a:srgbClr val="22AA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905" y="1701490"/>
            <a:ext cx="578499" cy="44280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/>
          <p:nvPr/>
        </p:nvSpPr>
        <p:spPr>
          <a:xfrm>
            <a:off x="259967" y="2527251"/>
            <a:ext cx="2765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Shape the future of AI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259967" y="3013911"/>
            <a:ext cx="27654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Partner with NextGenAI to empower young leaders and shape the direction of AI development.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4035210" y="1385541"/>
            <a:ext cx="1071300" cy="1071300"/>
          </a:xfrm>
          <a:prstGeom prst="ellipse">
            <a:avLst/>
          </a:prstGeom>
          <a:solidFill>
            <a:srgbClr val="FFD9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2112" y="1701490"/>
            <a:ext cx="578499" cy="44280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/>
          <p:nvPr/>
        </p:nvSpPr>
        <p:spPr>
          <a:xfrm>
            <a:off x="3227454" y="2527251"/>
            <a:ext cx="26868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Gain access to innovative student projects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3227454" y="3013911"/>
            <a:ext cx="26868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Collaborate with NextGenAI to get early exposure to cutting-edge AI solutions developed by talented students.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6963415" y="1385541"/>
            <a:ext cx="1071300" cy="1071300"/>
          </a:xfrm>
          <a:prstGeom prst="ellipse">
            <a:avLst/>
          </a:prstGeom>
          <a:solidFill>
            <a:srgbClr val="FEC08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22876" y="1682660"/>
            <a:ext cx="564215" cy="47851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4"/>
          <p:cNvSpPr/>
          <p:nvPr/>
        </p:nvSpPr>
        <p:spPr>
          <a:xfrm>
            <a:off x="6104594" y="2527251"/>
            <a:ext cx="27888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Be part of a global movement for ethical AI education</a:t>
            </a:r>
            <a:endParaRPr sz="12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6104594" y="3013911"/>
            <a:ext cx="27888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Join NextGenAI's mission to promote responsible AI practices and build a more inclusive, sustainable AI ecosystem worldwide.</a:t>
            </a:r>
            <a:endParaRPr sz="9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0" y="4285178"/>
            <a:ext cx="9141600" cy="857100"/>
          </a:xfrm>
          <a:prstGeom prst="rect">
            <a:avLst/>
          </a:prstGeom>
          <a:solidFill>
            <a:srgbClr val="FD864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39700" y="4589225"/>
            <a:ext cx="89733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 sz="1687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ogether, let's empower the next generation to create an AI-powered tomorrow that benefits all.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AAEE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/>
          <p:nvPr/>
        </p:nvSpPr>
        <p:spPr>
          <a:xfrm>
            <a:off x="685150" y="873650"/>
            <a:ext cx="7730400" cy="23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9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 strike="noStrike" cap="non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“We're building a movement—powered by youth, grounded in purpose, and connected by learning.”</a:t>
            </a:r>
            <a:endParaRPr sz="350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857950" y="3556866"/>
            <a:ext cx="73848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4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PAUL CHAN, PRINCIPAL, LEGEND COLLEGE PREPARATORY</a:t>
            </a:r>
            <a:endParaRPr sz="135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6" descr="NextGenAI International Organization"/>
          <p:cNvPicPr preferRelativeResize="0"/>
          <p:nvPr/>
        </p:nvPicPr>
        <p:blipFill rotWithShape="1">
          <a:blip r:embed="rId3">
            <a:alphaModFix/>
          </a:blip>
          <a:srcRect t="431" b="432"/>
          <a:stretch/>
        </p:blipFill>
        <p:spPr>
          <a:xfrm>
            <a:off x="533640" y="677455"/>
            <a:ext cx="3821588" cy="378859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/>
          <p:nvPr/>
        </p:nvSpPr>
        <p:spPr>
          <a:xfrm>
            <a:off x="4758025" y="677450"/>
            <a:ext cx="42354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13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Empowering Young Thinkers for an AI-Powered Tomorrow</a:t>
            </a:r>
            <a:endParaRPr sz="135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5021725" y="2774075"/>
            <a:ext cx="3708000" cy="16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8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 sz="120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extGenAI International Organization is a student-led, mentor-supported organization dedicated to empowering young thinkers worldwide to shape an AI-powered tomorrow. The organization aims to foster ethical AI awareness, develop practical AI skills, and inspire solutions to real-world challenges.</a:t>
            </a:r>
            <a:endParaRPr sz="120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932</Words>
  <Application>Microsoft Macintosh PowerPoint</Application>
  <PresentationFormat>On-screen Show (16:9)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</vt:lpstr>
      <vt:lpstr>Lato</vt:lpstr>
      <vt:lpstr>Verdana</vt:lpstr>
      <vt:lpstr>Arial</vt:lpstr>
      <vt:lpstr>Simple Light</vt:lpstr>
      <vt:lpstr>Focus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Arindam Samanta</cp:lastModifiedBy>
  <cp:revision>8</cp:revision>
  <dcterms:modified xsi:type="dcterms:W3CDTF">2025-12-23T02:28:06Z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2025-12-23T02:26:04Z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a1c71c2b-31c4-4acd-bcd7-beb8d460ef4b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